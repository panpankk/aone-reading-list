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30" r:id="rId3"/>
    <p:sldId id="344" r:id="rId4"/>
    <p:sldId id="345" r:id="rId5"/>
    <p:sldId id="342" r:id="rId6"/>
    <p:sldId id="346" r:id="rId7"/>
    <p:sldId id="347" r:id="rId8"/>
    <p:sldId id="348" r:id="rId9"/>
    <p:sldId id="343" r:id="rId10"/>
    <p:sldId id="339" r:id="rId11"/>
    <p:sldId id="349" r:id="rId12"/>
    <p:sldId id="32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w x" initials="yx" lastIdx="1" clrIdx="0">
    <p:extLst>
      <p:ext uri="{19B8F6BF-5375-455C-9EA6-DF929625EA0E}">
        <p15:presenceInfo xmlns:p15="http://schemas.microsoft.com/office/powerpoint/2012/main" userId="3912af47fd7428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0AE"/>
    <a:srgbClr val="0959A1"/>
    <a:srgbClr val="095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6" autoAdjust="0"/>
    <p:restoredTop sz="96721" autoAdjust="0"/>
  </p:normalViewPr>
  <p:slideViewPr>
    <p:cSldViewPr snapToGrid="0">
      <p:cViewPr varScale="1">
        <p:scale>
          <a:sx n="97" d="100"/>
          <a:sy n="97" d="100"/>
        </p:scale>
        <p:origin x="28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54B5-2AF4-41C8-9CFC-B26B1D468B9E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046E5-1111-4A4B-8485-05959BF6E7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1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163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5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736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727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632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4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849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674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384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23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B5ED-9AFE-F920-BA9B-F7568F43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BAFD8-F1F8-6863-7C33-8A52D7F3B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0A539-80CC-3A12-065C-2B45D1DB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盲源分离 </a:t>
            </a:r>
            <a:r>
              <a:rPr lang="en-US" altLang="zh-CN" dirty="0"/>
              <a:t>(BSS)</a:t>
            </a:r>
            <a:r>
              <a:rPr lang="zh-CN" altLang="en-US" dirty="0"/>
              <a:t>：盲源分离就是在“看不见原始信号和混合过程”的情况下，依靠数学和统计方法，把混合信号里的不同成分拆解出来。</a:t>
            </a:r>
            <a:endParaRPr lang="en-US" altLang="zh-CN" dirty="0"/>
          </a:p>
          <a:p>
            <a:r>
              <a:rPr lang="zh-CN" altLang="en-US" dirty="0"/>
              <a:t>颜色空间转换（</a:t>
            </a:r>
            <a:r>
              <a:rPr lang="en-US" altLang="zh-CN" b="1" dirty="0"/>
              <a:t>Color Space Conversion</a:t>
            </a:r>
            <a:r>
              <a:rPr lang="zh-CN" altLang="en-US" dirty="0"/>
              <a:t>）指的是：</a:t>
            </a:r>
            <a:r>
              <a:rPr lang="zh-CN" altLang="en-US" b="1" dirty="0"/>
              <a:t>将图像</a:t>
            </a:r>
            <a:r>
              <a:rPr lang="en-US" altLang="zh-CN" b="1" dirty="0"/>
              <a:t>/</a:t>
            </a:r>
            <a:r>
              <a:rPr lang="zh-CN" altLang="en-US" b="1" dirty="0"/>
              <a:t>视频中的像素值从一种颜色表示方式（颜色空间）映射到另一种颜色表示方式</a:t>
            </a:r>
            <a:r>
              <a:rPr lang="zh-CN" altLang="en-US" dirty="0"/>
              <a:t>的过程。</a:t>
            </a:r>
            <a:endParaRPr lang="en-US" altLang="zh-CN" dirty="0"/>
          </a:p>
          <a:p>
            <a:r>
              <a:rPr lang="zh-CN" altLang="en-US" dirty="0"/>
              <a:t>基于血红蛋白吸收特性，不同波长下 </a:t>
            </a:r>
            <a:r>
              <a:rPr lang="en-US" altLang="zh-CN" dirty="0"/>
              <a:t>rPPG </a:t>
            </a:r>
            <a:r>
              <a:rPr lang="zh-CN" altLang="en-US" dirty="0"/>
              <a:t>信号幅度不同 </a:t>
            </a:r>
            <a:r>
              <a:rPr lang="en-US" altLang="zh-CN" dirty="0"/>
              <a:t>[113]</a:t>
            </a:r>
            <a:r>
              <a:rPr lang="zh-CN" altLang="en-US" dirty="0"/>
              <a:t>。将 </a:t>
            </a:r>
            <a:r>
              <a:rPr lang="en-US" altLang="zh-CN" dirty="0"/>
              <a:t>RGB </a:t>
            </a:r>
            <a:r>
              <a:rPr lang="zh-CN" altLang="en-US" dirty="0"/>
              <a:t>信号投影到色度子空间，可以提升抗运动和抗光照变化的能力 </a:t>
            </a:r>
            <a:r>
              <a:rPr lang="en-US" altLang="zh-CN" dirty="0"/>
              <a:t>[79]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B486E-D200-27CE-08D0-62291E07C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D046E5-1111-4A4B-8485-05959BF6E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597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281D7-AB8B-4A49-B31C-4FE8BBA5730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4C3E1-4931-99C9-7019-E972DDDC2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4083C0-BC4D-54D7-CECC-C7BEC10A8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F7F692-861D-DE4C-58A1-D7EC8196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30606-A27D-ECEF-1748-5D1E1EB3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2F4B9-93F3-8A58-B349-422500BD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19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1FCCD-DE80-3019-80EA-B623D548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CA278-FA5E-C292-1610-E4B78A576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AAC7F-B86B-A788-4DCB-A7801BEC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F35E0-6DCC-86DC-2AF1-051B72B0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1813E-E065-8B8E-A351-E296F8AC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5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BE590-1732-E7DB-D672-95222329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AFC7D6-F414-11CB-417E-5901007C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8005B-9433-C92E-8B6F-91EE950D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93CE6-6ED4-CFBC-C74B-E22C13CC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6E736-7E9E-BD7D-54E5-A5E1D758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6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D54B2-016B-2C8B-C98B-87AB11C6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C43EB-D693-4DEC-933C-049FBCA59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28EE1B-8D16-1DB6-C727-7DE9FC205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8201B3-F668-F3F2-A66D-4619E92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E38874-72A9-0A27-B802-179EDBD5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FA1392-809A-6F0A-B208-2D123A74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67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C9928-5811-ECBF-EFF5-15985D8A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BA60F1-EF80-B5B7-9920-18BCEB821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B71E0A-6F57-6122-2ADE-BABD3E950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C436D5-CD2F-890C-ACD9-C3C6A94BE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A58C22-B1C4-9B34-029D-3BE91F8D3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C5DDC0-2EE9-F69C-CFC9-E45AE6DA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2964DD-FF03-4B6C-12CB-1C0499F9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E18DB9-E466-E950-D6A4-25FF0EE7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27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7F0F4-B001-633D-6961-4330FFCC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60EC68-CCF6-E606-F620-8E71C11B0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D4C120-DBA6-B68A-FAAC-F4E6DEC9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875798-98CB-CFD0-7DE7-029AD77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66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667245-775F-5DA9-3784-C94D1019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34E706-56C8-B5A7-920A-42997403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A89996-1F6E-F419-413D-A7C84620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52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07A89-3117-032E-2C10-5802B09D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5C3657-3D9B-B54C-2C72-FB616C4B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24082D-C299-71A8-B0ED-99376A41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87DA75-F3EE-5FCF-9791-8B4DB240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23C797-8D3D-FF32-83A0-FD0949CD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A5CF79-2484-62C0-666B-A7925DE8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61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92C79-F2AC-04F0-1B08-CDFEC359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0A9883-74AE-A723-0AAB-AD0783929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8BB015-61ED-F13F-F358-1C79B1BE3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D8AE23-257D-FD43-207C-757997CF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285D31-EFC6-3923-DC47-A2546A2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2D2EC5-58FC-2715-ABF8-68C2D68B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4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20EA6-8CDD-9C3F-4A82-FF83F830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E6F059-5D1D-1E26-037B-139097127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D995D-4EA9-D727-E8E8-06EB6225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D4E1A-36F5-1DE4-ECAD-28EF1358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69A24-3F29-4EC6-768B-7B740770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36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89AB30-B0FC-189B-65BA-78F075938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96DFF9-33A5-85FB-C8A1-DFD2172DE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996CC-7C6A-B1DF-9CF1-F26F6C56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C2647-1D52-FA98-25EA-57E4BF79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EA259-028A-BBA8-CAB1-0B05B44E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619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533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2461C4-602B-04E3-40C6-D3ABF877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9B2951-9E5D-498E-BFBC-B2D395A23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3F5AF3-1C9A-5B78-F03F-3A7400154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13398-9729-4276-99FF-526B8886F0C3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CFD35-3F38-D269-996F-2F767DCBE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66C72-DF22-271B-68C7-F098F2263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48B0D-2F37-4EDB-9BD4-E7332CA1A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99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183B912-F5C8-48EC-B3D9-71872064A26D}"/>
              </a:ext>
            </a:extLst>
          </p:cNvPr>
          <p:cNvSpPr/>
          <p:nvPr/>
        </p:nvSpPr>
        <p:spPr>
          <a:xfrm>
            <a:off x="0" y="0"/>
            <a:ext cx="12192000" cy="4836420"/>
          </a:xfrm>
          <a:prstGeom prst="rect">
            <a:avLst/>
          </a:prstGeom>
          <a:solidFill>
            <a:srgbClr val="0954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4BCA17-AA02-4F34-BEA8-A980A61AC75A}"/>
              </a:ext>
            </a:extLst>
          </p:cNvPr>
          <p:cNvSpPr txBox="1"/>
          <p:nvPr/>
        </p:nvSpPr>
        <p:spPr>
          <a:xfrm>
            <a:off x="486058" y="2050048"/>
            <a:ext cx="11625128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Deep Learning with 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Depthwise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Separable Convolutions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40D0E9-F7F1-445B-8857-DE04C4B4E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42" y="612406"/>
            <a:ext cx="3428498" cy="78943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729CC41-0ECE-40EC-B6BB-22DB2A58988B}"/>
              </a:ext>
            </a:extLst>
          </p:cNvPr>
          <p:cNvGrpSpPr/>
          <p:nvPr/>
        </p:nvGrpSpPr>
        <p:grpSpPr>
          <a:xfrm>
            <a:off x="3133666" y="5332679"/>
            <a:ext cx="7513374" cy="539217"/>
            <a:chOff x="2445769" y="5583524"/>
            <a:chExt cx="7513374" cy="539217"/>
          </a:xfrm>
        </p:grpSpPr>
        <p:pic>
          <p:nvPicPr>
            <p:cNvPr id="11" name="图形 10" descr="日程表 纯色填充">
              <a:extLst>
                <a:ext uri="{FF2B5EF4-FFF2-40B4-BE49-F238E27FC236}">
                  <a16:creationId xmlns:a16="http://schemas.microsoft.com/office/drawing/2014/main" id="{216D3229-F915-439D-A5AB-7AA9F7BB1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62177" y="5583524"/>
              <a:ext cx="528487" cy="534467"/>
            </a:xfrm>
            <a:prstGeom prst="rect">
              <a:avLst/>
            </a:prstGeom>
          </p:spPr>
        </p:pic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D516909-EED3-49CA-9453-F9F16B928857}"/>
                </a:ext>
              </a:extLst>
            </p:cNvPr>
            <p:cNvCxnSpPr>
              <a:cxnSpLocks/>
            </p:cNvCxnSpPr>
            <p:nvPr/>
          </p:nvCxnSpPr>
          <p:spPr>
            <a:xfrm>
              <a:off x="5344935" y="5647170"/>
              <a:ext cx="0" cy="40717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08C505E-D6D1-42A4-AF56-2FEC2D584F46}"/>
                </a:ext>
              </a:extLst>
            </p:cNvPr>
            <p:cNvSpPr txBox="1"/>
            <p:nvPr/>
          </p:nvSpPr>
          <p:spPr>
            <a:xfrm>
              <a:off x="6490664" y="5705580"/>
              <a:ext cx="3468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时间：</a:t>
              </a:r>
              <a:r>
                <a:rPr lang="en-US" altLang="zh-CN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2025.10.25</a:t>
              </a:r>
              <a:endParaRPr lang="zh-CN" altLang="en-US" b="1" dirty="0">
                <a:solidFill>
                  <a:srgbClr val="0A60A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" name="图形 9" descr="雇员徽章 纯色填充">
              <a:extLst>
                <a:ext uri="{FF2B5EF4-FFF2-40B4-BE49-F238E27FC236}">
                  <a16:creationId xmlns:a16="http://schemas.microsoft.com/office/drawing/2014/main" id="{2D1B14E3-ADAD-4A6A-8542-42CEEB8EA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45769" y="5594253"/>
              <a:ext cx="528488" cy="528488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07E7C23-E280-4E01-A218-4FEF1615D9E4}"/>
                </a:ext>
              </a:extLst>
            </p:cNvPr>
            <p:cNvSpPr txBox="1"/>
            <p:nvPr/>
          </p:nvSpPr>
          <p:spPr>
            <a:xfrm>
              <a:off x="3035540" y="5722271"/>
              <a:ext cx="2742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汇报人：薛跃伟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564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695">
        <p:fade/>
      </p:transition>
    </mc:Choice>
    <mc:Fallback>
      <p:transition spd="med" advTm="369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D438F87-46ED-457B-AC04-FB012DA023FD}"/>
              </a:ext>
            </a:extLst>
          </p:cNvPr>
          <p:cNvSpPr/>
          <p:nvPr/>
        </p:nvSpPr>
        <p:spPr>
          <a:xfrm>
            <a:off x="9453710" y="1264725"/>
            <a:ext cx="2216075" cy="866879"/>
          </a:xfrm>
          <a:prstGeom prst="rect">
            <a:avLst/>
          </a:prstGeom>
          <a:solidFill>
            <a:srgbClr val="0A60A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B2B9B1-8888-40E6-93DF-17D2B680E803}"/>
              </a:ext>
            </a:extLst>
          </p:cNvPr>
          <p:cNvSpPr txBox="1"/>
          <p:nvPr/>
        </p:nvSpPr>
        <p:spPr>
          <a:xfrm>
            <a:off x="522214" y="593785"/>
            <a:ext cx="9989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 err="1">
                <a:solidFill>
                  <a:srgbClr val="0959A1"/>
                </a:solidFill>
                <a:effectLst/>
                <a:latin typeface="NimbusRomNo9L-Medi"/>
              </a:rPr>
              <a:t>Xception</a:t>
            </a:r>
            <a:r>
              <a:rPr lang="en-US" altLang="zh-CN" sz="2400" b="0" i="0" dirty="0">
                <a:solidFill>
                  <a:srgbClr val="0959A1"/>
                </a:solidFill>
                <a:effectLst/>
                <a:latin typeface="NimbusRomNo9L-Medi"/>
              </a:rPr>
              <a:t>: Deep Learning with </a:t>
            </a:r>
            <a:r>
              <a:rPr lang="en-US" altLang="zh-CN" sz="2400" b="0" i="0" dirty="0" err="1">
                <a:solidFill>
                  <a:srgbClr val="0959A1"/>
                </a:solidFill>
                <a:effectLst/>
                <a:latin typeface="NimbusRomNo9L-Medi"/>
              </a:rPr>
              <a:t>Depthwise</a:t>
            </a:r>
            <a:r>
              <a:rPr lang="en-US" altLang="zh-CN" sz="2400" b="0" i="0" dirty="0">
                <a:solidFill>
                  <a:srgbClr val="0959A1"/>
                </a:solidFill>
                <a:effectLst/>
                <a:latin typeface="NimbusRomNo9L-Medi"/>
              </a:rPr>
              <a:t> Separable Convolutions</a:t>
            </a:r>
            <a:r>
              <a:rPr lang="en-US" altLang="zh-CN" sz="2400" dirty="0">
                <a:solidFill>
                  <a:srgbClr val="0959A1"/>
                </a:solidFill>
                <a:latin typeface="NimbusRomNo9L-Medi"/>
              </a:rPr>
              <a:t>(CVPR,2017)</a:t>
            </a:r>
            <a:r>
              <a:rPr lang="en-US" altLang="zh-CN" sz="2400" dirty="0">
                <a:solidFill>
                  <a:srgbClr val="0959A1"/>
                </a:solidFill>
              </a:rPr>
              <a:t> </a:t>
            </a: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E56BA9-71DB-4304-B8EB-80240CDB6DB4}"/>
              </a:ext>
            </a:extLst>
          </p:cNvPr>
          <p:cNvSpPr txBox="1"/>
          <p:nvPr/>
        </p:nvSpPr>
        <p:spPr>
          <a:xfrm>
            <a:off x="522215" y="1073995"/>
            <a:ext cx="8564795" cy="14229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论文链接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https://arxiv.org/pdf/1610.02357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代码链接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https://keras.io/applications/#xception </a:t>
            </a:r>
            <a:br>
              <a:rPr lang="en-US" altLang="zh-CN" sz="2000" dirty="0"/>
            </a:br>
            <a:endParaRPr lang="zh-CN" altLang="en-US" sz="20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4C4D77-2751-4F67-A6B4-619DB77879F3}"/>
              </a:ext>
            </a:extLst>
          </p:cNvPr>
          <p:cNvSpPr txBox="1"/>
          <p:nvPr/>
        </p:nvSpPr>
        <p:spPr>
          <a:xfrm>
            <a:off x="9351173" y="1340831"/>
            <a:ext cx="22160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93B023-6BB7-4BC8-93B4-1B5ABA06541C}"/>
              </a:ext>
            </a:extLst>
          </p:cNvPr>
          <p:cNvSpPr txBox="1"/>
          <p:nvPr/>
        </p:nvSpPr>
        <p:spPr>
          <a:xfrm>
            <a:off x="9652725" y="1727019"/>
            <a:ext cx="181804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引用量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24558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23F9EC-E52F-4372-A90A-8D369761F888}"/>
              </a:ext>
            </a:extLst>
          </p:cNvPr>
          <p:cNvSpPr txBox="1"/>
          <p:nvPr/>
        </p:nvSpPr>
        <p:spPr>
          <a:xfrm>
            <a:off x="170688" y="-75299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F94931-2E1A-4991-A475-1D793B7E08C9}"/>
              </a:ext>
            </a:extLst>
          </p:cNvPr>
          <p:cNvSpPr txBox="1"/>
          <p:nvPr/>
        </p:nvSpPr>
        <p:spPr>
          <a:xfrm>
            <a:off x="554720" y="2243185"/>
            <a:ext cx="3563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A6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</a:t>
            </a:r>
            <a:r>
              <a:rPr lang="zh-CN" altLang="en-US" sz="2000" dirty="0">
                <a:solidFill>
                  <a:srgbClr val="0A6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模型发展历程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2389AE-33D7-4E9D-BB12-D95DB498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958" y="4812165"/>
            <a:ext cx="3493180" cy="13050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43" name="组合 42">
            <a:extLst>
              <a:ext uri="{FF2B5EF4-FFF2-40B4-BE49-F238E27FC236}">
                <a16:creationId xmlns:a16="http://schemas.microsoft.com/office/drawing/2014/main" id="{75426162-92C7-4980-A2D3-F4B9D6854D41}"/>
              </a:ext>
            </a:extLst>
          </p:cNvPr>
          <p:cNvGrpSpPr/>
          <p:nvPr/>
        </p:nvGrpSpPr>
        <p:grpSpPr>
          <a:xfrm>
            <a:off x="655345" y="2249658"/>
            <a:ext cx="7189363" cy="2926984"/>
            <a:chOff x="805605" y="2752271"/>
            <a:chExt cx="7189363" cy="2926984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FFDC8B7-88A6-426F-9F84-978403F337FE}"/>
                </a:ext>
              </a:extLst>
            </p:cNvPr>
            <p:cNvGrpSpPr/>
            <p:nvPr/>
          </p:nvGrpSpPr>
          <p:grpSpPr>
            <a:xfrm>
              <a:off x="805605" y="3146410"/>
              <a:ext cx="7189363" cy="2532845"/>
              <a:chOff x="1577130" y="3158265"/>
              <a:chExt cx="7189363" cy="2532845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432929E-0782-4176-8B2C-9547EEA9D185}"/>
                  </a:ext>
                </a:extLst>
              </p:cNvPr>
              <p:cNvSpPr/>
              <p:nvPr/>
            </p:nvSpPr>
            <p:spPr>
              <a:xfrm>
                <a:off x="1577130" y="4962156"/>
                <a:ext cx="1518407" cy="7289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/>
                  <a:t>GoogleNet</a:t>
                </a:r>
                <a:endParaRPr lang="en-US" altLang="zh-CN" dirty="0"/>
              </a:p>
              <a:p>
                <a:pPr algn="ctr"/>
                <a:r>
                  <a:rPr lang="en-US" altLang="zh-CN" dirty="0"/>
                  <a:t>(InceptionV1)</a:t>
                </a:r>
                <a:endParaRPr lang="zh-CN" altLang="en-US" dirty="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DADD0E9-E837-4C6C-B424-A5DF7F9D00E2}"/>
                  </a:ext>
                </a:extLst>
              </p:cNvPr>
              <p:cNvSpPr/>
              <p:nvPr/>
            </p:nvSpPr>
            <p:spPr>
              <a:xfrm>
                <a:off x="3095537" y="4508825"/>
                <a:ext cx="1417739" cy="7289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InceptionV2</a:t>
                </a:r>
                <a:endParaRPr lang="zh-CN" altLang="en-US" dirty="0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B1D71688-B123-439E-9BD0-92C55F41330E}"/>
                  </a:ext>
                </a:extLst>
              </p:cNvPr>
              <p:cNvSpPr/>
              <p:nvPr/>
            </p:nvSpPr>
            <p:spPr>
              <a:xfrm>
                <a:off x="4513276" y="4059692"/>
                <a:ext cx="1417739" cy="7289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InceptionV3</a:t>
                </a:r>
                <a:endParaRPr lang="zh-CN" altLang="en-US" dirty="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9A056C5-345E-4053-A536-498CF16AA90A}"/>
                  </a:ext>
                </a:extLst>
              </p:cNvPr>
              <p:cNvSpPr/>
              <p:nvPr/>
            </p:nvSpPr>
            <p:spPr>
              <a:xfrm>
                <a:off x="5931015" y="3583096"/>
                <a:ext cx="1417739" cy="7289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InceptionV4</a:t>
                </a:r>
                <a:endParaRPr lang="zh-CN" altLang="en-US" dirty="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4F3AFD43-E487-462C-96C2-E077235CD52A}"/>
                  </a:ext>
                </a:extLst>
              </p:cNvPr>
              <p:cNvSpPr/>
              <p:nvPr/>
            </p:nvSpPr>
            <p:spPr>
              <a:xfrm>
                <a:off x="7348754" y="3158265"/>
                <a:ext cx="1417739" cy="7289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/>
                  <a:t>Xception</a:t>
                </a:r>
                <a:endParaRPr lang="zh-CN" altLang="en-US" dirty="0"/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516FE71-739F-4BC7-9E1D-BB888476EDCE}"/>
                </a:ext>
              </a:extLst>
            </p:cNvPr>
            <p:cNvSpPr txBox="1"/>
            <p:nvPr/>
          </p:nvSpPr>
          <p:spPr>
            <a:xfrm>
              <a:off x="1030041" y="4580969"/>
              <a:ext cx="103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2014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84B646F-13C2-40EE-968B-FA78EE8C1F17}"/>
                </a:ext>
              </a:extLst>
            </p:cNvPr>
            <p:cNvSpPr txBox="1"/>
            <p:nvPr/>
          </p:nvSpPr>
          <p:spPr>
            <a:xfrm>
              <a:off x="2517088" y="4156657"/>
              <a:ext cx="103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2015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3A023E6-3ED7-47BB-8602-D6AD7FDA9FCB}"/>
                </a:ext>
              </a:extLst>
            </p:cNvPr>
            <p:cNvSpPr txBox="1"/>
            <p:nvPr/>
          </p:nvSpPr>
          <p:spPr>
            <a:xfrm>
              <a:off x="5406785" y="3209902"/>
              <a:ext cx="103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2016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F6CE7E7-5A1A-47C7-B9C1-29A166D6774D}"/>
                </a:ext>
              </a:extLst>
            </p:cNvPr>
            <p:cNvSpPr txBox="1"/>
            <p:nvPr/>
          </p:nvSpPr>
          <p:spPr>
            <a:xfrm>
              <a:off x="6770305" y="2752271"/>
              <a:ext cx="103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2017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8899F86-4503-4982-8DB5-63D953D06FFF}"/>
                </a:ext>
              </a:extLst>
            </p:cNvPr>
            <p:cNvSpPr txBox="1"/>
            <p:nvPr/>
          </p:nvSpPr>
          <p:spPr>
            <a:xfrm>
              <a:off x="3934828" y="3665650"/>
              <a:ext cx="103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2015</a:t>
              </a:r>
              <a:endParaRPr lang="zh-CN" altLang="en-US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A579754-0EAE-46F3-AF49-A84D55D302B2}"/>
              </a:ext>
            </a:extLst>
          </p:cNvPr>
          <p:cNvGrpSpPr/>
          <p:nvPr/>
        </p:nvGrpSpPr>
        <p:grpSpPr>
          <a:xfrm>
            <a:off x="2500153" y="4274178"/>
            <a:ext cx="2988670" cy="1519868"/>
            <a:chOff x="2690653" y="4274178"/>
            <a:chExt cx="2988670" cy="1519868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C3822D-1217-4D1D-8D19-F03AC7F8EC84}"/>
                </a:ext>
              </a:extLst>
            </p:cNvPr>
            <p:cNvSpPr txBox="1"/>
            <p:nvPr/>
          </p:nvSpPr>
          <p:spPr>
            <a:xfrm>
              <a:off x="3079626" y="5186928"/>
              <a:ext cx="20766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5×5 → </a:t>
              </a:r>
              <a:r>
                <a:rPr lang="zh-CN" altLang="en-US" sz="1600" dirty="0"/>
                <a:t>两个 </a:t>
              </a:r>
              <a:r>
                <a:rPr lang="en-US" altLang="zh-CN" sz="1600" dirty="0"/>
                <a:t>3×3</a:t>
              </a:r>
              <a:endParaRPr lang="zh-CN" altLang="en-US" sz="16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EF46F8C-FC1A-4AE3-B80B-9CFBA3CD8241}"/>
                </a:ext>
              </a:extLst>
            </p:cNvPr>
            <p:cNvSpPr txBox="1"/>
            <p:nvPr/>
          </p:nvSpPr>
          <p:spPr>
            <a:xfrm>
              <a:off x="2932858" y="5486269"/>
              <a:ext cx="27464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引入 </a:t>
              </a:r>
              <a:r>
                <a:rPr lang="en-US" altLang="zh-CN" sz="1400" dirty="0"/>
                <a:t>Batch Normalization</a:t>
              </a:r>
              <a:endParaRPr lang="zh-CN" altLang="en-US" sz="1400" dirty="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9743A63-03CE-4D98-8668-6A3E11562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971" y="4723311"/>
              <a:ext cx="1" cy="4761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3BAD9DE-08A0-4A76-BBEA-07716E74D41B}"/>
                </a:ext>
              </a:extLst>
            </p:cNvPr>
            <p:cNvCxnSpPr>
              <a:cxnSpLocks/>
            </p:cNvCxnSpPr>
            <p:nvPr/>
          </p:nvCxnSpPr>
          <p:spPr>
            <a:xfrm>
              <a:off x="4443236" y="4274178"/>
              <a:ext cx="0" cy="9279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325386E-B4B0-47D6-9D19-320D2FB07CB1}"/>
                </a:ext>
              </a:extLst>
            </p:cNvPr>
            <p:cNvSpPr/>
            <p:nvPr/>
          </p:nvSpPr>
          <p:spPr>
            <a:xfrm>
              <a:off x="2690653" y="5213746"/>
              <a:ext cx="2509078" cy="5668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5F42B04-38E2-4789-8482-FCB05CFC5EC8}"/>
              </a:ext>
            </a:extLst>
          </p:cNvPr>
          <p:cNvGrpSpPr/>
          <p:nvPr/>
        </p:nvGrpSpPr>
        <p:grpSpPr>
          <a:xfrm>
            <a:off x="595452" y="5406299"/>
            <a:ext cx="1638192" cy="567787"/>
            <a:chOff x="568659" y="3466854"/>
            <a:chExt cx="2101314" cy="567787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803512-DAEE-43AD-B01F-1DA4F2F8F61B}"/>
                </a:ext>
              </a:extLst>
            </p:cNvPr>
            <p:cNvSpPr txBox="1"/>
            <p:nvPr/>
          </p:nvSpPr>
          <p:spPr>
            <a:xfrm>
              <a:off x="568659" y="3480643"/>
              <a:ext cx="210131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/>
                <a:t>多尺度卷积</a:t>
              </a:r>
              <a:endParaRPr lang="en-US" altLang="zh-CN" sz="1600" dirty="0"/>
            </a:p>
            <a:p>
              <a:pPr algn="ctr"/>
              <a:r>
                <a:rPr lang="zh-CN" altLang="en-US" sz="1400" dirty="0"/>
                <a:t>（</a:t>
              </a:r>
              <a:r>
                <a:rPr lang="en-US" altLang="zh-CN" sz="1400" dirty="0"/>
                <a:t>1×1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3×3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5×5</a:t>
              </a:r>
              <a:r>
                <a:rPr lang="zh-CN" altLang="en-US" sz="1400" dirty="0"/>
                <a:t>）</a:t>
              </a:r>
              <a:endParaRPr lang="zh-CN" altLang="en-US" sz="16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FA395CA-E69A-4B3D-991A-12D933D572C7}"/>
                </a:ext>
              </a:extLst>
            </p:cNvPr>
            <p:cNvSpPr/>
            <p:nvPr/>
          </p:nvSpPr>
          <p:spPr>
            <a:xfrm>
              <a:off x="645484" y="3466854"/>
              <a:ext cx="1947667" cy="5668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B8EA83A-8861-4C77-A990-6F4C78E5469A}"/>
              </a:ext>
            </a:extLst>
          </p:cNvPr>
          <p:cNvGrpSpPr/>
          <p:nvPr/>
        </p:nvGrpSpPr>
        <p:grpSpPr>
          <a:xfrm>
            <a:off x="5043493" y="4082624"/>
            <a:ext cx="1614742" cy="486256"/>
            <a:chOff x="5109897" y="4367305"/>
            <a:chExt cx="1614742" cy="48625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F0452F0-3C80-42EE-A802-2B3D798D3247}"/>
                </a:ext>
              </a:extLst>
            </p:cNvPr>
            <p:cNvSpPr/>
            <p:nvPr/>
          </p:nvSpPr>
          <p:spPr>
            <a:xfrm>
              <a:off x="5176302" y="4367305"/>
              <a:ext cx="1313261" cy="48625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392D06E-0D95-4E39-86F7-8CC460F785E1}"/>
                </a:ext>
              </a:extLst>
            </p:cNvPr>
            <p:cNvSpPr txBox="1"/>
            <p:nvPr/>
          </p:nvSpPr>
          <p:spPr>
            <a:xfrm>
              <a:off x="5109897" y="4438912"/>
              <a:ext cx="16147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引入残差连接</a:t>
              </a:r>
            </a:p>
          </p:txBody>
        </p:sp>
      </p:grp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CC80DCB-3D8B-4540-B7FA-FAB5ED98023C}"/>
              </a:ext>
            </a:extLst>
          </p:cNvPr>
          <p:cNvCxnSpPr>
            <a:cxnSpLocks/>
          </p:cNvCxnSpPr>
          <p:nvPr/>
        </p:nvCxnSpPr>
        <p:spPr>
          <a:xfrm>
            <a:off x="5693454" y="3811192"/>
            <a:ext cx="1270" cy="272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4F04128-3E99-43A8-AE06-BDA293087F2C}"/>
              </a:ext>
            </a:extLst>
          </p:cNvPr>
          <p:cNvCxnSpPr>
            <a:cxnSpLocks/>
          </p:cNvCxnSpPr>
          <p:nvPr/>
        </p:nvCxnSpPr>
        <p:spPr>
          <a:xfrm>
            <a:off x="1418634" y="5175172"/>
            <a:ext cx="1" cy="218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0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普通卷积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深度可分离卷积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D53139-A83D-4695-8ACF-41F753E9CAE8}"/>
              </a:ext>
            </a:extLst>
          </p:cNvPr>
          <p:cNvSpPr/>
          <p:nvPr/>
        </p:nvSpPr>
        <p:spPr>
          <a:xfrm>
            <a:off x="305819" y="1501629"/>
            <a:ext cx="6332485" cy="3867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C82E9-34AB-4622-A286-3EA66DAB4D7A}"/>
              </a:ext>
            </a:extLst>
          </p:cNvPr>
          <p:cNvSpPr txBox="1"/>
          <p:nvPr/>
        </p:nvSpPr>
        <p:spPr>
          <a:xfrm>
            <a:off x="305819" y="797218"/>
            <a:ext cx="1296477" cy="400110"/>
          </a:xfrm>
          <a:prstGeom prst="rect">
            <a:avLst/>
          </a:prstGeom>
          <a:solidFill>
            <a:srgbClr val="0A60AE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普通卷积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屏幕录制 3">
            <a:hlinkClick r:id="" action="ppaction://media"/>
            <a:extLst>
              <a:ext uri="{FF2B5EF4-FFF2-40B4-BE49-F238E27FC236}">
                <a16:creationId xmlns:a16="http://schemas.microsoft.com/office/drawing/2014/main" id="{86DE5474-663C-44C8-84FC-041E2125FD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0310" y="2372222"/>
            <a:ext cx="4035979" cy="24359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613253-0298-41B8-A9F5-3C498C00A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942" y="1962626"/>
            <a:ext cx="2383916" cy="299674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C6E75EA-E536-4A5A-8A65-9CBD694A97E7}"/>
              </a:ext>
            </a:extLst>
          </p:cNvPr>
          <p:cNvSpPr txBox="1"/>
          <p:nvPr/>
        </p:nvSpPr>
        <p:spPr>
          <a:xfrm>
            <a:off x="6758394" y="812360"/>
            <a:ext cx="1296477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深度卷积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F51B3E-2A42-4754-8E4F-2F6BB4F0C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870" y="1716731"/>
            <a:ext cx="3569718" cy="350672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D5FBBB3-CE0E-4A80-AD60-937E148C1155}"/>
              </a:ext>
            </a:extLst>
          </p:cNvPr>
          <p:cNvSpPr/>
          <p:nvPr/>
        </p:nvSpPr>
        <p:spPr>
          <a:xfrm>
            <a:off x="7911194" y="1536431"/>
            <a:ext cx="3857071" cy="3867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8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900">
        <p:fade/>
      </p:transition>
    </mc:Choice>
    <mc:Fallback xmlns="">
      <p:transition spd="med" advTm="69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普通卷积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深度可分离卷积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6E75EA-E536-4A5A-8A65-9CBD694A97E7}"/>
              </a:ext>
            </a:extLst>
          </p:cNvPr>
          <p:cNvSpPr txBox="1"/>
          <p:nvPr/>
        </p:nvSpPr>
        <p:spPr>
          <a:xfrm>
            <a:off x="416821" y="782435"/>
            <a:ext cx="181515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深度可分离卷积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D9399AC-4C8B-41E9-9ECE-5FC2339B3F32}"/>
              </a:ext>
            </a:extLst>
          </p:cNvPr>
          <p:cNvGrpSpPr/>
          <p:nvPr/>
        </p:nvGrpSpPr>
        <p:grpSpPr>
          <a:xfrm>
            <a:off x="598464" y="1463190"/>
            <a:ext cx="4383612" cy="4289432"/>
            <a:chOff x="701239" y="1455120"/>
            <a:chExt cx="4383612" cy="428943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6D0956B-26E4-4F2F-897B-B98D041A78F4}"/>
                </a:ext>
              </a:extLst>
            </p:cNvPr>
            <p:cNvSpPr txBox="1"/>
            <p:nvPr/>
          </p:nvSpPr>
          <p:spPr>
            <a:xfrm>
              <a:off x="4714002" y="2289834"/>
              <a:ext cx="370849" cy="1200329"/>
            </a:xfrm>
            <a:prstGeom prst="rect">
              <a:avLst/>
            </a:prstGeom>
            <a:solidFill>
              <a:srgbClr val="0959A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深度卷积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0FCD473-B20F-4E15-9310-231E9D8A7E2B}"/>
                </a:ext>
              </a:extLst>
            </p:cNvPr>
            <p:cNvSpPr txBox="1"/>
            <p:nvPr/>
          </p:nvSpPr>
          <p:spPr>
            <a:xfrm>
              <a:off x="4714002" y="4373606"/>
              <a:ext cx="370849" cy="1200329"/>
            </a:xfrm>
            <a:prstGeom prst="rect">
              <a:avLst/>
            </a:prstGeom>
            <a:solidFill>
              <a:srgbClr val="0959A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逐点卷积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B910349D-8F52-4950-8B10-14C0D0BFDED3}"/>
                </a:ext>
              </a:extLst>
            </p:cNvPr>
            <p:cNvSpPr/>
            <p:nvPr/>
          </p:nvSpPr>
          <p:spPr>
            <a:xfrm>
              <a:off x="4056374" y="2739797"/>
              <a:ext cx="578841" cy="30040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55CD90B6-AFAD-4A86-BBCB-9C6009136C4D}"/>
                </a:ext>
              </a:extLst>
            </p:cNvPr>
            <p:cNvSpPr/>
            <p:nvPr/>
          </p:nvSpPr>
          <p:spPr>
            <a:xfrm>
              <a:off x="4056373" y="4662819"/>
              <a:ext cx="578841" cy="30040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A4D4419-CE21-4B33-9E06-681760329C3B}"/>
                </a:ext>
              </a:extLst>
            </p:cNvPr>
            <p:cNvGrpSpPr/>
            <p:nvPr/>
          </p:nvGrpSpPr>
          <p:grpSpPr>
            <a:xfrm>
              <a:off x="701239" y="1455120"/>
              <a:ext cx="3518424" cy="4289432"/>
              <a:chOff x="3251492" y="860852"/>
              <a:chExt cx="3828816" cy="5215435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0593AEFB-C159-4114-96E4-FBD0AB29A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1492" y="860852"/>
                <a:ext cx="3828816" cy="5215435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F120B9D-7B86-4B92-932B-AD1DB7C5214E}"/>
                  </a:ext>
                </a:extLst>
              </p:cNvPr>
              <p:cNvSpPr/>
              <p:nvPr/>
            </p:nvSpPr>
            <p:spPr>
              <a:xfrm>
                <a:off x="3299349" y="1121019"/>
                <a:ext cx="3733101" cy="260369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箭头: 右 17">
                <a:extLst>
                  <a:ext uri="{FF2B5EF4-FFF2-40B4-BE49-F238E27FC236}">
                    <a16:creationId xmlns:a16="http://schemas.microsoft.com/office/drawing/2014/main" id="{9D5D484D-45D6-476A-9256-BB3B812F5AEC}"/>
                  </a:ext>
                </a:extLst>
              </p:cNvPr>
              <p:cNvSpPr/>
              <p:nvPr/>
            </p:nvSpPr>
            <p:spPr>
              <a:xfrm rot="5400000">
                <a:off x="5049166" y="3563474"/>
                <a:ext cx="233466" cy="273576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17E3D33-449E-46F1-A21F-F16201DD6817}"/>
                  </a:ext>
                </a:extLst>
              </p:cNvPr>
              <p:cNvSpPr/>
              <p:nvPr/>
            </p:nvSpPr>
            <p:spPr>
              <a:xfrm>
                <a:off x="3317524" y="3844198"/>
                <a:ext cx="3733101" cy="223208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7306FFC-7E6B-4125-B367-24116F896510}"/>
              </a:ext>
            </a:extLst>
          </p:cNvPr>
          <p:cNvGrpSpPr/>
          <p:nvPr/>
        </p:nvGrpSpPr>
        <p:grpSpPr>
          <a:xfrm>
            <a:off x="6225754" y="2118702"/>
            <a:ext cx="5181600" cy="3463303"/>
            <a:chOff x="6096000" y="2058679"/>
            <a:chExt cx="4752703" cy="34268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0131201-77D1-494D-A655-AE9949B72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058679"/>
              <a:ext cx="4752703" cy="3426842"/>
            </a:xfrm>
            <a:prstGeom prst="rect">
              <a:avLst/>
            </a:prstGeom>
          </p:spPr>
        </p:pic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B469449-C810-4481-8A62-77701CB0E6DA}"/>
                </a:ext>
              </a:extLst>
            </p:cNvPr>
            <p:cNvCxnSpPr>
              <a:cxnSpLocks/>
            </p:cNvCxnSpPr>
            <p:nvPr/>
          </p:nvCxnSpPr>
          <p:spPr>
            <a:xfrm>
              <a:off x="6165908" y="3409950"/>
              <a:ext cx="0" cy="683878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96CA5FE-19CC-49F6-B516-EF7437079E4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251" y="3591597"/>
              <a:ext cx="0" cy="675603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C28363-FFED-4CE4-AC0E-086C3BED5786}"/>
              </a:ext>
            </a:extLst>
          </p:cNvPr>
          <p:cNvGrpSpPr/>
          <p:nvPr/>
        </p:nvGrpSpPr>
        <p:grpSpPr>
          <a:xfrm>
            <a:off x="5702177" y="802735"/>
            <a:ext cx="5971839" cy="1120385"/>
            <a:chOff x="5799340" y="761244"/>
            <a:chExt cx="5971839" cy="1120385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3E13798-743B-4324-BC87-96B98CC8859C}"/>
                </a:ext>
              </a:extLst>
            </p:cNvPr>
            <p:cNvSpPr txBox="1"/>
            <p:nvPr/>
          </p:nvSpPr>
          <p:spPr>
            <a:xfrm>
              <a:off x="5842820" y="807284"/>
              <a:ext cx="5928359" cy="1021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以一张 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32×32×3 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的图像为例，卷积核大小 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3×3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，输出通道 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256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普通卷积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3×3×3×256 = 6912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深度可分离卷积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(3×3×3) + (1×1×3×256) = 9×3 + 768 = 795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1F6A28F-FAF1-425C-AC11-E33BA8015347}"/>
                </a:ext>
              </a:extLst>
            </p:cNvPr>
            <p:cNvSpPr/>
            <p:nvPr/>
          </p:nvSpPr>
          <p:spPr>
            <a:xfrm>
              <a:off x="5799340" y="761244"/>
              <a:ext cx="5971839" cy="11203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158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900">
        <p:fade/>
      </p:transition>
    </mc:Choice>
    <mc:Fallback xmlns="">
      <p:transition spd="med" advTm="69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CD66B7-4981-4830-ACAD-E09B1B7ABCEE}"/>
              </a:ext>
            </a:extLst>
          </p:cNvPr>
          <p:cNvGrpSpPr/>
          <p:nvPr/>
        </p:nvGrpSpPr>
        <p:grpSpPr>
          <a:xfrm>
            <a:off x="287339" y="1396000"/>
            <a:ext cx="5366754" cy="3546178"/>
            <a:chOff x="500646" y="1329276"/>
            <a:chExt cx="6033504" cy="377612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E5D524E-6CDA-4AC4-9B50-F86C4142693A}"/>
                </a:ext>
              </a:extLst>
            </p:cNvPr>
            <p:cNvGrpSpPr/>
            <p:nvPr/>
          </p:nvGrpSpPr>
          <p:grpSpPr>
            <a:xfrm>
              <a:off x="500646" y="1329276"/>
              <a:ext cx="6033504" cy="3776123"/>
              <a:chOff x="357771" y="578065"/>
              <a:chExt cx="7995654" cy="5501648"/>
            </a:xfrm>
            <a:effectLst/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DDF02C3-8D7F-4922-96DF-9DFCCC015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771" y="594716"/>
                <a:ext cx="7967079" cy="5484997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4C98637-80FD-43D7-9227-A56B05F97467}"/>
                  </a:ext>
                </a:extLst>
              </p:cNvPr>
              <p:cNvSpPr/>
              <p:nvPr/>
            </p:nvSpPr>
            <p:spPr>
              <a:xfrm>
                <a:off x="5638800" y="741141"/>
                <a:ext cx="2476500" cy="5742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AAA8FC8-C469-4AAB-9AE8-BE9FA10CADEF}"/>
                  </a:ext>
                </a:extLst>
              </p:cNvPr>
              <p:cNvSpPr/>
              <p:nvPr/>
            </p:nvSpPr>
            <p:spPr>
              <a:xfrm>
                <a:off x="6206121" y="5075321"/>
                <a:ext cx="2118729" cy="8641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91050DB-2EBC-473E-BCA7-28ABD7AC628C}"/>
                  </a:ext>
                </a:extLst>
              </p:cNvPr>
              <p:cNvSpPr/>
              <p:nvPr/>
            </p:nvSpPr>
            <p:spPr>
              <a:xfrm>
                <a:off x="357771" y="5505484"/>
                <a:ext cx="790575" cy="5742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A85958FE-7647-4895-BF20-2A165651E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346" y="578065"/>
                <a:ext cx="7967079" cy="5484996"/>
              </a:xfrm>
              <a:prstGeom prst="rect">
                <a:avLst/>
              </a:prstGeom>
              <a:ln>
                <a:noFill/>
              </a:ln>
              <a:effectLst/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E8B1DF2-C9F8-45F3-99C5-D34D87013F5E}"/>
                  </a:ext>
                </a:extLst>
              </p:cNvPr>
              <p:cNvSpPr/>
              <p:nvPr/>
            </p:nvSpPr>
            <p:spPr>
              <a:xfrm>
                <a:off x="5667375" y="724490"/>
                <a:ext cx="2476500" cy="5742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F20FA8F-7387-4E8E-9585-A40D06C03D44}"/>
                  </a:ext>
                </a:extLst>
              </p:cNvPr>
              <p:cNvSpPr/>
              <p:nvPr/>
            </p:nvSpPr>
            <p:spPr>
              <a:xfrm>
                <a:off x="6234696" y="5058670"/>
                <a:ext cx="2118729" cy="8641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14F9058-ECAB-44F3-A0DB-98D61FD42158}"/>
                  </a:ext>
                </a:extLst>
              </p:cNvPr>
              <p:cNvSpPr/>
              <p:nvPr/>
            </p:nvSpPr>
            <p:spPr>
              <a:xfrm>
                <a:off x="386346" y="5488833"/>
                <a:ext cx="790575" cy="5742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2C1838E-5C4A-41C1-AB22-1FE281674A8D}"/>
                </a:ext>
              </a:extLst>
            </p:cNvPr>
            <p:cNvSpPr/>
            <p:nvPr/>
          </p:nvSpPr>
          <p:spPr>
            <a:xfrm>
              <a:off x="5934075" y="3810000"/>
              <a:ext cx="266700" cy="26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C606D76-D6AE-4E03-95A2-4522475AE11F}"/>
              </a:ext>
            </a:extLst>
          </p:cNvPr>
          <p:cNvSpPr txBox="1"/>
          <p:nvPr/>
        </p:nvSpPr>
        <p:spPr>
          <a:xfrm>
            <a:off x="1030198" y="5350403"/>
            <a:ext cx="320178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InceptionV1(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原始模块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8F2B8F2-9472-42FA-83E8-8D9FE0BC4FDD}"/>
              </a:ext>
            </a:extLst>
          </p:cNvPr>
          <p:cNvSpPr/>
          <p:nvPr/>
        </p:nvSpPr>
        <p:spPr>
          <a:xfrm>
            <a:off x="5868765" y="2680826"/>
            <a:ext cx="413171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B8CD0D6-33FD-411B-91BA-0046FE9D0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050" y="1931355"/>
            <a:ext cx="5347573" cy="298047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133D8DE-F24D-4F9C-BDF7-00FC656BADD2}"/>
              </a:ext>
            </a:extLst>
          </p:cNvPr>
          <p:cNvSpPr txBox="1"/>
          <p:nvPr/>
        </p:nvSpPr>
        <p:spPr>
          <a:xfrm>
            <a:off x="7061118" y="5350403"/>
            <a:ext cx="421143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InceptionV1(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BottleNect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-Inception)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A31EE2-B4CD-4300-907B-C29D6FE51FD7}"/>
              </a:ext>
            </a:extLst>
          </p:cNvPr>
          <p:cNvGrpSpPr/>
          <p:nvPr/>
        </p:nvGrpSpPr>
        <p:grpSpPr>
          <a:xfrm>
            <a:off x="6479987" y="660165"/>
            <a:ext cx="5424674" cy="1493135"/>
            <a:chOff x="6225753" y="950964"/>
            <a:chExt cx="5487097" cy="119009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E833EA7-455D-4891-959A-2A1CB93F0749}"/>
                </a:ext>
              </a:extLst>
            </p:cNvPr>
            <p:cNvSpPr/>
            <p:nvPr/>
          </p:nvSpPr>
          <p:spPr>
            <a:xfrm>
              <a:off x="6225753" y="950964"/>
              <a:ext cx="5487097" cy="11679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572B4FE-3583-41C6-B7EA-4F78C720ED22}"/>
                </a:ext>
              </a:extLst>
            </p:cNvPr>
            <p:cNvSpPr txBox="1"/>
            <p:nvPr/>
          </p:nvSpPr>
          <p:spPr>
            <a:xfrm>
              <a:off x="6263216" y="973069"/>
              <a:ext cx="5347574" cy="1167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pl-PL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H=W=32,C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</a:t>
              </a:r>
              <a:r>
                <a:rPr lang="pl-PL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in​=256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en-US" altLang="zh-CN" sz="14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C_out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=64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直接做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3x3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卷积：参数量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 3×3×C_in×C_out= 3×3×256×64=147456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先用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1x1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降维到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：参数量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=256×32+3×3×C_in×C_out= 8192+3×3×32×64=26624                               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减少了约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5.5 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12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606D76-D6AE-4E03-95A2-4522475AE11F}"/>
              </a:ext>
            </a:extLst>
          </p:cNvPr>
          <p:cNvSpPr txBox="1"/>
          <p:nvPr/>
        </p:nvSpPr>
        <p:spPr>
          <a:xfrm>
            <a:off x="1610875" y="5079823"/>
            <a:ext cx="320178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InceptionV1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8F2B8F2-9472-42FA-83E8-8D9FE0BC4FDD}"/>
              </a:ext>
            </a:extLst>
          </p:cNvPr>
          <p:cNvSpPr/>
          <p:nvPr/>
        </p:nvSpPr>
        <p:spPr>
          <a:xfrm>
            <a:off x="6096000" y="3328154"/>
            <a:ext cx="413171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33D8DE-F24D-4F9C-BDF7-00FC656BADD2}"/>
              </a:ext>
            </a:extLst>
          </p:cNvPr>
          <p:cNvSpPr txBox="1"/>
          <p:nvPr/>
        </p:nvSpPr>
        <p:spPr>
          <a:xfrm>
            <a:off x="7058027" y="5067948"/>
            <a:ext cx="421143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InceptionV3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D09B15-F3A1-49D7-9565-AEAD208F5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205" y="1359986"/>
            <a:ext cx="3676190" cy="35428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825432-A30F-4F14-9A71-3F9905F71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574" y="1684116"/>
            <a:ext cx="3921165" cy="3090324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F6D65B6-0BFD-4A8A-8254-24C32C71B9FA}"/>
              </a:ext>
            </a:extLst>
          </p:cNvPr>
          <p:cNvSpPr/>
          <p:nvPr/>
        </p:nvSpPr>
        <p:spPr>
          <a:xfrm>
            <a:off x="1404474" y="2609850"/>
            <a:ext cx="1024401" cy="73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126ADF-A861-4CB3-8D43-14730D21DD9E}"/>
              </a:ext>
            </a:extLst>
          </p:cNvPr>
          <p:cNvSpPr/>
          <p:nvPr/>
        </p:nvSpPr>
        <p:spPr>
          <a:xfrm>
            <a:off x="7460454" y="2244139"/>
            <a:ext cx="1024401" cy="132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606D76-D6AE-4E03-95A2-4522475AE11F}"/>
              </a:ext>
            </a:extLst>
          </p:cNvPr>
          <p:cNvSpPr txBox="1"/>
          <p:nvPr/>
        </p:nvSpPr>
        <p:spPr>
          <a:xfrm>
            <a:off x="1841075" y="3177226"/>
            <a:ext cx="2370199" cy="338554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InceptionV3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8F2B8F2-9472-42FA-83E8-8D9FE0BC4FDD}"/>
              </a:ext>
            </a:extLst>
          </p:cNvPr>
          <p:cNvSpPr/>
          <p:nvPr/>
        </p:nvSpPr>
        <p:spPr>
          <a:xfrm>
            <a:off x="5889414" y="1830897"/>
            <a:ext cx="413171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33D8DE-F24D-4F9C-BDF7-00FC656BADD2}"/>
              </a:ext>
            </a:extLst>
          </p:cNvPr>
          <p:cNvSpPr txBox="1"/>
          <p:nvPr/>
        </p:nvSpPr>
        <p:spPr>
          <a:xfrm>
            <a:off x="7752514" y="3137093"/>
            <a:ext cx="2370199" cy="338554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0DA1EB-FDF2-45AC-AD0D-3347C0F2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98" y="684357"/>
            <a:ext cx="4218183" cy="23613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613B24-71F3-41B5-8CD7-5480DAE1D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118" y="572349"/>
            <a:ext cx="3742996" cy="25344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1F20DC-D0A3-4CDB-A212-2BB4F6896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244" y="3785915"/>
            <a:ext cx="4107757" cy="2426058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73B51D2E-D34F-4834-AF76-8E016F475B6C}"/>
              </a:ext>
            </a:extLst>
          </p:cNvPr>
          <p:cNvSpPr/>
          <p:nvPr/>
        </p:nvSpPr>
        <p:spPr>
          <a:xfrm rot="5400000">
            <a:off x="8786461" y="3541607"/>
            <a:ext cx="302308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C16DCA-B503-4703-A69D-C6735F398E63}"/>
              </a:ext>
            </a:extLst>
          </p:cNvPr>
          <p:cNvSpPr txBox="1"/>
          <p:nvPr/>
        </p:nvSpPr>
        <p:spPr>
          <a:xfrm>
            <a:off x="7752514" y="6171079"/>
            <a:ext cx="2370199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E7300CEC-C1BE-4BC3-BAD2-CD72138EF2AE}"/>
              </a:ext>
            </a:extLst>
          </p:cNvPr>
          <p:cNvSpPr/>
          <p:nvPr/>
        </p:nvSpPr>
        <p:spPr>
          <a:xfrm rot="10800000">
            <a:off x="5870363" y="4741354"/>
            <a:ext cx="413171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1487D2-2917-4F7D-A298-E2A4CDDE4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55" y="3647270"/>
            <a:ext cx="4380952" cy="252380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EE68A83-8B1F-4038-94E8-31D193A3991E}"/>
              </a:ext>
            </a:extLst>
          </p:cNvPr>
          <p:cNvSpPr txBox="1"/>
          <p:nvPr/>
        </p:nvSpPr>
        <p:spPr>
          <a:xfrm>
            <a:off x="1756188" y="6196022"/>
            <a:ext cx="2370199" cy="338554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极致简化：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Inception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78CF195-77C4-440E-8004-F732F5D94042}"/>
              </a:ext>
            </a:extLst>
          </p:cNvPr>
          <p:cNvGrpSpPr/>
          <p:nvPr/>
        </p:nvGrpSpPr>
        <p:grpSpPr>
          <a:xfrm>
            <a:off x="501229" y="1583450"/>
            <a:ext cx="4766096" cy="3088995"/>
            <a:chOff x="6096000" y="2058679"/>
            <a:chExt cx="4752703" cy="3426842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51EB305-D601-4D43-9280-5F85BC95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058679"/>
              <a:ext cx="4752703" cy="3426842"/>
            </a:xfrm>
            <a:prstGeom prst="rect">
              <a:avLst/>
            </a:prstGeom>
          </p:spPr>
        </p:pic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B1D1579-BFB7-450D-88F4-5FE8F3643EE7}"/>
                </a:ext>
              </a:extLst>
            </p:cNvPr>
            <p:cNvCxnSpPr>
              <a:cxnSpLocks/>
            </p:cNvCxnSpPr>
            <p:nvPr/>
          </p:nvCxnSpPr>
          <p:spPr>
            <a:xfrm>
              <a:off x="6165908" y="3409950"/>
              <a:ext cx="0" cy="683878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EFFC545-EAA0-4B89-B414-2740A6062B3B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251" y="3591597"/>
              <a:ext cx="0" cy="675603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CA3A6-DD5A-4736-A871-22352DBAA3C3}"/>
              </a:ext>
            </a:extLst>
          </p:cNvPr>
          <p:cNvSpPr txBox="1"/>
          <p:nvPr/>
        </p:nvSpPr>
        <p:spPr>
          <a:xfrm>
            <a:off x="322465" y="843590"/>
            <a:ext cx="181515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深度可分离卷积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2450D1-891A-45F8-A749-61C9C0388E14}"/>
              </a:ext>
            </a:extLst>
          </p:cNvPr>
          <p:cNvSpPr txBox="1"/>
          <p:nvPr/>
        </p:nvSpPr>
        <p:spPr>
          <a:xfrm>
            <a:off x="5885065" y="860852"/>
            <a:ext cx="1815155" cy="369332"/>
          </a:xfrm>
          <a:prstGeom prst="rect">
            <a:avLst/>
          </a:prstGeom>
          <a:solidFill>
            <a:srgbClr val="0959A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C7D80D-F757-4AE2-964D-4575B1AB4C53}"/>
              </a:ext>
            </a:extLst>
          </p:cNvPr>
          <p:cNvGrpSpPr/>
          <p:nvPr/>
        </p:nvGrpSpPr>
        <p:grpSpPr>
          <a:xfrm>
            <a:off x="6340055" y="1583452"/>
            <a:ext cx="4766096" cy="3088996"/>
            <a:chOff x="6225754" y="1583451"/>
            <a:chExt cx="4808709" cy="312317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652A2AA-0020-4015-AD15-3DE8A6E4FC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281" t="9367" r="24609" b="14975"/>
            <a:stretch/>
          </p:blipFill>
          <p:spPr>
            <a:xfrm>
              <a:off x="6225754" y="1583451"/>
              <a:ext cx="4808709" cy="312317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7D85707-D674-4DFE-BA9E-ED8651264DBD}"/>
                </a:ext>
              </a:extLst>
            </p:cNvPr>
            <p:cNvSpPr/>
            <p:nvPr/>
          </p:nvSpPr>
          <p:spPr>
            <a:xfrm>
              <a:off x="6225754" y="1583451"/>
              <a:ext cx="1546646" cy="588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9E0D962-1D89-4EF5-B4C2-07E7D4071531}"/>
              </a:ext>
            </a:extLst>
          </p:cNvPr>
          <p:cNvSpPr/>
          <p:nvPr/>
        </p:nvSpPr>
        <p:spPr>
          <a:xfrm>
            <a:off x="962025" y="5210175"/>
            <a:ext cx="3190875" cy="543753"/>
          </a:xfrm>
          <a:prstGeom prst="rect">
            <a:avLst/>
          </a:prstGeom>
          <a:solidFill>
            <a:srgbClr val="0A60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depthwise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E7E2D02-269D-4CE4-9936-506117A4DF19}"/>
              </a:ext>
            </a:extLst>
          </p:cNvPr>
          <p:cNvSpPr/>
          <p:nvPr/>
        </p:nvSpPr>
        <p:spPr>
          <a:xfrm>
            <a:off x="7700220" y="5246729"/>
            <a:ext cx="3190875" cy="543753"/>
          </a:xfrm>
          <a:prstGeom prst="rect">
            <a:avLst/>
          </a:prstGeom>
          <a:solidFill>
            <a:srgbClr val="0A60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depthwise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018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88483" y="-141294"/>
            <a:ext cx="12198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Xception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0" y="6341215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3816FB-B013-4571-9CF5-193CA0EE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102" y="809650"/>
            <a:ext cx="7729406" cy="516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0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70688" y="-93905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126583" y="6682209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23BFDE-7BD2-4FAB-A134-376AC346E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644253"/>
            <a:ext cx="3724275" cy="299835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E3D922F-4B4E-4DC9-95C1-9EEB95806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480" y="684083"/>
            <a:ext cx="3409569" cy="28075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FE6A06-00CE-4DAE-B2F5-D2883A2F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769" y="3642610"/>
            <a:ext cx="3724275" cy="30087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5808860-FB06-4E93-8598-B1661BC5A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4370" y="3613728"/>
            <a:ext cx="3491679" cy="2946403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92E70A-5946-45EC-BA80-0502FB558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69507"/>
              </p:ext>
            </p:extLst>
          </p:nvPr>
        </p:nvGraphicFramePr>
        <p:xfrm>
          <a:off x="8716049" y="1214785"/>
          <a:ext cx="3305263" cy="1837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9629">
                  <a:extLst>
                    <a:ext uri="{9D8B030D-6E8A-4147-A177-3AD203B41FA5}">
                      <a16:colId xmlns:a16="http://schemas.microsoft.com/office/drawing/2014/main" val="2551281701"/>
                    </a:ext>
                  </a:extLst>
                </a:gridCol>
                <a:gridCol w="809629">
                  <a:extLst>
                    <a:ext uri="{9D8B030D-6E8A-4147-A177-3AD203B41FA5}">
                      <a16:colId xmlns:a16="http://schemas.microsoft.com/office/drawing/2014/main" val="495871940"/>
                    </a:ext>
                  </a:extLst>
                </a:gridCol>
                <a:gridCol w="799312">
                  <a:extLst>
                    <a:ext uri="{9D8B030D-6E8A-4147-A177-3AD203B41FA5}">
                      <a16:colId xmlns:a16="http://schemas.microsoft.com/office/drawing/2014/main" val="2068331254"/>
                    </a:ext>
                  </a:extLst>
                </a:gridCol>
                <a:gridCol w="886693">
                  <a:extLst>
                    <a:ext uri="{9D8B030D-6E8A-4147-A177-3AD203B41FA5}">
                      <a16:colId xmlns:a16="http://schemas.microsoft.com/office/drawing/2014/main" val="3778446898"/>
                    </a:ext>
                  </a:extLst>
                </a:gridCol>
              </a:tblGrid>
              <a:tr h="524911"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主要任务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数据集名称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数据集规模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类别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1674796"/>
                  </a:ext>
                </a:extLst>
              </a:tr>
              <a:tr h="524911"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图像分类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00">
                          <a:effectLst/>
                        </a:rPr>
                        <a:t>ImageNet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大约</a:t>
                      </a:r>
                      <a:r>
                        <a:rPr lang="en-US" sz="1000" kern="100">
                          <a:effectLst/>
                        </a:rPr>
                        <a:t> 120 </a:t>
                      </a:r>
                      <a:r>
                        <a:rPr lang="zh-CN" sz="1000" kern="100">
                          <a:effectLst/>
                        </a:rPr>
                        <a:t>万张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00">
                          <a:effectLst/>
                        </a:rPr>
                        <a:t>1000</a:t>
                      </a:r>
                      <a:r>
                        <a:rPr lang="zh-CN" sz="1000" kern="100">
                          <a:effectLst/>
                        </a:rPr>
                        <a:t>类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7815598"/>
                  </a:ext>
                </a:extLst>
              </a:tr>
              <a:tr h="787366"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图像分类（大规模）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00">
                          <a:effectLst/>
                        </a:rPr>
                        <a:t>JFT-300M</a:t>
                      </a:r>
                      <a:r>
                        <a:rPr lang="zh-CN" sz="1000" kern="100">
                          <a:effectLst/>
                        </a:rPr>
                        <a:t>（</a:t>
                      </a:r>
                      <a:r>
                        <a:rPr lang="en-US" sz="1000" kern="100">
                          <a:effectLst/>
                        </a:rPr>
                        <a:t>Google</a:t>
                      </a:r>
                      <a:r>
                        <a:rPr lang="zh-CN" sz="1000" kern="100">
                          <a:effectLst/>
                        </a:rPr>
                        <a:t>内部数据集）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kern="100">
                          <a:effectLst/>
                        </a:rPr>
                        <a:t>大约</a:t>
                      </a:r>
                      <a:r>
                        <a:rPr lang="en-US" sz="1000" kern="100">
                          <a:effectLst/>
                        </a:rPr>
                        <a:t> 3 </a:t>
                      </a:r>
                      <a:r>
                        <a:rPr lang="zh-CN" sz="1000" kern="100">
                          <a:effectLst/>
                        </a:rPr>
                        <a:t>亿张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00" dirty="0">
                          <a:effectLst/>
                        </a:rPr>
                        <a:t>1.8 </a:t>
                      </a:r>
                      <a:r>
                        <a:rPr lang="zh-CN" sz="1000" kern="100" dirty="0">
                          <a:effectLst/>
                        </a:rPr>
                        <a:t>万类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4122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36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C995-30C1-2036-CBE4-CBF2006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1F4A68-B8C1-8F1F-FEC0-971E362402D8}"/>
              </a:ext>
            </a:extLst>
          </p:cNvPr>
          <p:cNvCxnSpPr>
            <a:cxnSpLocks/>
          </p:cNvCxnSpPr>
          <p:nvPr/>
        </p:nvCxnSpPr>
        <p:spPr>
          <a:xfrm flipV="1">
            <a:off x="170688" y="443481"/>
            <a:ext cx="11850624" cy="2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BBC488-EDA9-4CCF-B473-58FE2923D534}"/>
              </a:ext>
            </a:extLst>
          </p:cNvPr>
          <p:cNvSpPr/>
          <p:nvPr/>
        </p:nvSpPr>
        <p:spPr>
          <a:xfrm>
            <a:off x="0" y="-176168"/>
            <a:ext cx="12192000" cy="678135"/>
          </a:xfrm>
          <a:prstGeom prst="rect">
            <a:avLst/>
          </a:prstGeom>
          <a:solidFill>
            <a:srgbClr val="0959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6781F-A117-49F7-825D-13EDAA5DDFFC}"/>
              </a:ext>
            </a:extLst>
          </p:cNvPr>
          <p:cNvSpPr txBox="1"/>
          <p:nvPr/>
        </p:nvSpPr>
        <p:spPr>
          <a:xfrm>
            <a:off x="126583" y="-100070"/>
            <a:ext cx="12198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45C181-C43C-4585-AFB2-1A9278B6CFB0}"/>
              </a:ext>
            </a:extLst>
          </p:cNvPr>
          <p:cNvSpPr/>
          <p:nvPr/>
        </p:nvSpPr>
        <p:spPr>
          <a:xfrm>
            <a:off x="126583" y="6682209"/>
            <a:ext cx="12198342" cy="51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137A6F-65EC-4F7F-9C56-81D65F62E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599845"/>
              </p:ext>
            </p:extLst>
          </p:nvPr>
        </p:nvGraphicFramePr>
        <p:xfrm>
          <a:off x="1666336" y="1358059"/>
          <a:ext cx="9118836" cy="3068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6915">
                  <a:extLst>
                    <a:ext uri="{9D8B030D-6E8A-4147-A177-3AD203B41FA5}">
                      <a16:colId xmlns:a16="http://schemas.microsoft.com/office/drawing/2014/main" val="1252037494"/>
                    </a:ext>
                  </a:extLst>
                </a:gridCol>
                <a:gridCol w="2449585">
                  <a:extLst>
                    <a:ext uri="{9D8B030D-6E8A-4147-A177-3AD203B41FA5}">
                      <a16:colId xmlns:a16="http://schemas.microsoft.com/office/drawing/2014/main" val="988449996"/>
                    </a:ext>
                  </a:extLst>
                </a:gridCol>
                <a:gridCol w="2342627">
                  <a:extLst>
                    <a:ext uri="{9D8B030D-6E8A-4147-A177-3AD203B41FA5}">
                      <a16:colId xmlns:a16="http://schemas.microsoft.com/office/drawing/2014/main" val="627000873"/>
                    </a:ext>
                  </a:extLst>
                </a:gridCol>
                <a:gridCol w="2279709">
                  <a:extLst>
                    <a:ext uri="{9D8B030D-6E8A-4147-A177-3AD203B41FA5}">
                      <a16:colId xmlns:a16="http://schemas.microsoft.com/office/drawing/2014/main" val="2333649398"/>
                    </a:ext>
                  </a:extLst>
                </a:gridCol>
              </a:tblGrid>
              <a:tr h="767188"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传统卷积模型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DSC </a:t>
                      </a:r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的模型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2992329"/>
                  </a:ext>
                </a:extLst>
              </a:tr>
              <a:tr h="767188">
                <a:tc>
                  <a:txBody>
                    <a:bodyPr/>
                    <a:lstStyle/>
                    <a:p>
                      <a:pPr algn="ctr"/>
                      <a:r>
                        <a:rPr lang="zh-CN" sz="180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手机端人脸识别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Inception-v3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，运行慢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MobileNetV2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，运行快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 4×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>
                          <a:effectLst/>
                          <a:latin typeface="+mn-ea"/>
                          <a:ea typeface="+mn-ea"/>
                        </a:rPr>
                        <a:t>功耗更低、实时性更好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7367778"/>
                  </a:ext>
                </a:extLst>
              </a:tr>
              <a:tr h="767188">
                <a:tc>
                  <a:txBody>
                    <a:bodyPr/>
                    <a:lstStyle/>
                    <a:p>
                      <a:pPr algn="ctr"/>
                      <a:r>
                        <a:rPr lang="zh-CN" sz="180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无人机目标检测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YOLOv3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（全卷积）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YOLOv5-Lite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（含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DSC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体积更小、推理更稳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2693158"/>
                  </a:ext>
                </a:extLst>
              </a:tr>
              <a:tr h="767188"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工业检测芯片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ResNet-50 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模型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0" dirty="0" err="1">
                          <a:effectLst/>
                          <a:latin typeface="+mn-ea"/>
                          <a:ea typeface="+mn-ea"/>
                        </a:rPr>
                        <a:t>EfficientNet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-Lite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相同精度下能耗降低约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 60%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115210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CAD6DBA-E797-4CFD-841D-5DD22F59EC40}"/>
              </a:ext>
            </a:extLst>
          </p:cNvPr>
          <p:cNvSpPr txBox="1"/>
          <p:nvPr/>
        </p:nvSpPr>
        <p:spPr>
          <a:xfrm>
            <a:off x="2136122" y="5014053"/>
            <a:ext cx="86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A60AE"/>
                </a:solidFill>
              </a:rPr>
              <a:t>深度可分离卷积提供了结构压缩与硬件友好的理想平衡方案，使模型既轻量又高效。</a:t>
            </a:r>
          </a:p>
        </p:txBody>
      </p:sp>
    </p:spTree>
    <p:extLst>
      <p:ext uri="{BB962C8B-B14F-4D97-AF65-F5344CB8AC3E}">
        <p14:creationId xmlns:p14="http://schemas.microsoft.com/office/powerpoint/2010/main" val="308998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183B912-F5C8-48EC-B3D9-71872064A26D}"/>
              </a:ext>
            </a:extLst>
          </p:cNvPr>
          <p:cNvSpPr/>
          <p:nvPr/>
        </p:nvSpPr>
        <p:spPr>
          <a:xfrm>
            <a:off x="0" y="-64008"/>
            <a:ext cx="12192000" cy="4803112"/>
          </a:xfrm>
          <a:prstGeom prst="rect">
            <a:avLst/>
          </a:prstGeom>
          <a:solidFill>
            <a:srgbClr val="0A6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4BCA17-AA02-4F34-BEA8-A980A61AC75A}"/>
              </a:ext>
            </a:extLst>
          </p:cNvPr>
          <p:cNvSpPr txBox="1"/>
          <p:nvPr/>
        </p:nvSpPr>
        <p:spPr>
          <a:xfrm>
            <a:off x="2233612" y="2166098"/>
            <a:ext cx="7724775" cy="10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请老师批评指正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40D0E9-F7F1-445B-8857-DE04C4B4E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449777"/>
            <a:ext cx="3428498" cy="789432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75FA948-2341-4E7B-9A3B-6D588A06389E}"/>
              </a:ext>
            </a:extLst>
          </p:cNvPr>
          <p:cNvGrpSpPr/>
          <p:nvPr/>
        </p:nvGrpSpPr>
        <p:grpSpPr>
          <a:xfrm>
            <a:off x="2876491" y="5376410"/>
            <a:ext cx="7513374" cy="539217"/>
            <a:chOff x="2445769" y="5583524"/>
            <a:chExt cx="7513374" cy="539217"/>
          </a:xfrm>
        </p:grpSpPr>
        <p:pic>
          <p:nvPicPr>
            <p:cNvPr id="13" name="图形 12" descr="日程表 纯色填充">
              <a:extLst>
                <a:ext uri="{FF2B5EF4-FFF2-40B4-BE49-F238E27FC236}">
                  <a16:creationId xmlns:a16="http://schemas.microsoft.com/office/drawing/2014/main" id="{4FF70332-C0ED-4AFB-AA1B-5BF21BF6D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62177" y="5583524"/>
              <a:ext cx="528487" cy="534467"/>
            </a:xfrm>
            <a:prstGeom prst="rect">
              <a:avLst/>
            </a:prstGeom>
          </p:spPr>
        </p:pic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6B29DCC-AF54-4733-ACA8-751500EBB97B}"/>
                </a:ext>
              </a:extLst>
            </p:cNvPr>
            <p:cNvCxnSpPr>
              <a:cxnSpLocks/>
            </p:cNvCxnSpPr>
            <p:nvPr/>
          </p:nvCxnSpPr>
          <p:spPr>
            <a:xfrm>
              <a:off x="5344935" y="5647170"/>
              <a:ext cx="0" cy="40717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35115E-4A27-4F1A-8A9A-55C868B93C74}"/>
                </a:ext>
              </a:extLst>
            </p:cNvPr>
            <p:cNvSpPr txBox="1"/>
            <p:nvPr/>
          </p:nvSpPr>
          <p:spPr>
            <a:xfrm>
              <a:off x="6490664" y="5705580"/>
              <a:ext cx="3468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时间：</a:t>
              </a:r>
              <a:r>
                <a:rPr lang="en-US" altLang="zh-CN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2025.10.25</a:t>
              </a:r>
              <a:endParaRPr lang="zh-CN" altLang="en-US" b="1" dirty="0">
                <a:solidFill>
                  <a:srgbClr val="0A60A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" name="图形 18" descr="雇员徽章 纯色填充">
              <a:extLst>
                <a:ext uri="{FF2B5EF4-FFF2-40B4-BE49-F238E27FC236}">
                  <a16:creationId xmlns:a16="http://schemas.microsoft.com/office/drawing/2014/main" id="{AA7DD620-5B8D-4CF8-B43D-9BD73B20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45769" y="5594253"/>
              <a:ext cx="528488" cy="52848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D85D0B4-E594-46F1-997D-B3157931AA89}"/>
                </a:ext>
              </a:extLst>
            </p:cNvPr>
            <p:cNvSpPr txBox="1"/>
            <p:nvPr/>
          </p:nvSpPr>
          <p:spPr>
            <a:xfrm>
              <a:off x="3035540" y="5722271"/>
              <a:ext cx="2742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A60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汇报人：薛跃伟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818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11927</TotalTime>
  <Words>1630</Words>
  <Application>Microsoft Office PowerPoint</Application>
  <PresentationFormat>宽屏</PresentationFormat>
  <Paragraphs>132</Paragraphs>
  <Slides>12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NimbusRomNo9L-Medi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培元 蒋</dc:creator>
  <cp:lastModifiedBy>yw x</cp:lastModifiedBy>
  <cp:revision>167</cp:revision>
  <dcterms:created xsi:type="dcterms:W3CDTF">2025-09-12T01:45:39Z</dcterms:created>
  <dcterms:modified xsi:type="dcterms:W3CDTF">2025-11-03T13:24:40Z</dcterms:modified>
</cp:coreProperties>
</file>